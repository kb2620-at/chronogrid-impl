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96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ChronoGrid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1664208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457200" y="1755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universelle Zeitmodell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212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CCEE"/>
                </a:solidFill>
              </a:rPr>
              <a:t>Von der Nanosekunde bis zum Urknall — ein einziger Standard.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8972" y="2743200"/>
            <a:ext cx="1737360" cy="91440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918972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8972" y="3264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Dokumente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(9 normativ)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75204" y="2743200"/>
            <a:ext cx="1737360" cy="91440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2775204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75204" y="3264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Fehler-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klassen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31436" y="2743200"/>
            <a:ext cx="1737360" cy="91440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4631436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31436" y="3264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Konformitäts-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stufen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87668" y="2743200"/>
            <a:ext cx="1737360" cy="91440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6487668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87668" y="3264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Normative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Invarianten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0" y="475488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77AA"/>
                </a:solidFill>
              </a:rPr>
              <a:t>Kurt  ·  Founder &amp; Lead Architect  ·  ChronoGrid Systems  ·  Neunkirchen, Niederösterreich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DAS PROBLEM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Zeitdarstellung — das ungelöste Fundament der Informatik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54864" cy="14630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⚠  Jahr-2038-Problem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3913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Unix-Timestamps laufen in 32-Bit über. Milliarden Systeme weltweit sind betroffen — in weniger als 12 Jahren.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54864" cy="14630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🔀  Inkompatible Zeitsysteme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127248"/>
            <a:ext cx="3913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Gregorianisch, Unix, TAI, GPS, Hijri, kosmologisch — kein gemeinsamer formaler Interoperabilitätsstandard.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7899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4663440" y="1078992"/>
            <a:ext cx="54864" cy="14630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4800600" y="118872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🔁  Schaltsekunden &amp; Drift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913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27 Schaltsekunden seit 1972, manuell verwaltet. Kein Standard handhabt sie automatisch und domänenbewusst.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670048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663440" y="2670048"/>
            <a:ext cx="54864" cy="14630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800600" y="277977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🔬  Wissenschaftliche Lücke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127248"/>
            <a:ext cx="3913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Kosmologische, raumfahrttechnische und quantenphysikalische Zeitskalen: kein existierender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DIE LÖSUNG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ChronoGrid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7A589"/>
                </a:solidFill>
              </a:rPr>
              <a:t>Ein offener, formaler Standard — jede Zeitdomäne, jede Skala, für immer konsistent.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4173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A589"/>
                </a:solidFill>
              </a:rPr>
              <a:t>Universell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801368"/>
            <a:ext cx="3849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F0"/>
                </a:solidFill>
              </a:rPr>
              <a:t>Gregorianisch, Unix, TAI, GPS, QKD-Photon, kosmologisch — alle Skalen als formale TimeDomain in CTDDL.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4069080" cy="14173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690872" y="148132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A589"/>
                </a:solidFill>
              </a:rPr>
              <a:t>Präzise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0872" y="1801368"/>
            <a:ext cx="3849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F0"/>
                </a:solidFill>
              </a:rPr>
              <a:t>BigInt-Arithmetik (ℤ∞). Kein Überlauf, keine Rundungsfehler. Nanosekunden über Milliarden Jahre.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69080" cy="14173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30352" y="294436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A589"/>
                </a:solidFill>
              </a:rPr>
              <a:t>Interoperabel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3264408"/>
            <a:ext cx="3849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F0"/>
                </a:solidFill>
              </a:rPr>
              <a:t>Deterministische Klasse-A/B-Mappings zwischen beliebigen Zeitdomänen — formal, überprüfbar, zertifiziert.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834640"/>
            <a:ext cx="4069080" cy="14173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690872" y="294436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A589"/>
                </a:solidFill>
              </a:rPr>
              <a:t>Stabil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90872" y="3264408"/>
            <a:ext cx="3849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F0"/>
                </a:solidFill>
              </a:rPr>
              <a:t>Unveränderliche Domain-Versionen (I-D1). Eine CGTA-Adresse bedeutet in 100 Jahren dasselbe.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KERNKONZEPTE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Konzepte — unbegrenzt kombinierbar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4069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🕐  TimeDomain  —  Die Zeitsprache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Jedes Zeitsystem wird als formale TimeDomain in CTDDL (JSON/ABNF) beschrieben — mit Granularität, Extent, Hierarchie und Mappings.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E8A72"/>
                </a:solidFill>
              </a:rPr>
              <a:t>Gregorian · Unix · TAI · GPS · QKD · Cosmic …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2628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4526280" y="1005840"/>
            <a:ext cx="4069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6177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📍  CGTA-Adresse  —  Der eindeutige Name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3716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Jeder Zeitpunkt erhält eine global eindeutige, menschenlesbare Adresse — 6-Tupel (D, t, z, v, h, σ), formal in CG-STD-0000 Def. 1.4.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23957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E8A72"/>
                </a:solidFill>
              </a:rPr>
              <a:t>CG:TAI:1742041937/v1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0E8A72"/>
                </a:solidFill>
              </a:rPr>
              <a:t>CG:Cosmic:435116774400000/v1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069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  Engine  —  Das deterministische Gehirn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Parst, validiert, konvertiert CGTA-Adressen. Klasse-A-Mappings (linear), Klasse-B (relativistisch, RK45). Chain-Limit: 8 Schritte.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1788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E8A72"/>
                </a:solidFill>
              </a:rPr>
              <a:t>114 normative Tests · Level 1 / 2 /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27889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3" name="Shape 21"/>
          <p:cNvSpPr/>
          <p:nvPr/>
        </p:nvSpPr>
        <p:spPr>
          <a:xfrm>
            <a:off x="4526280" y="2788920"/>
            <a:ext cx="40690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461772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🔑  MachineID &amp; CGFI  —  Kryptographische Identifier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1546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MachineID = SHA-256(DomainName ‖ Wert ‖ Version), Primärschlüssel für Zeitpunkte. CGFI = Datei-Fingerabdruck inkl. Content-Hash.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41788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E8A72"/>
                </a:solidFill>
              </a:rPr>
              <a:t>I-M1: Mapping-Eindeutigkeit (Th. 3.1)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SPEZIFIKATIONSSTACK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Dokumente — 9 normative Schichten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64008" cy="493776"/>
          </a:xfrm>
          <a:prstGeom prst="rect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502920" y="1106424"/>
            <a:ext cx="54864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02920" y="110642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Sch. 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43000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CG-STD-6100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43000" y="12435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CGUAS &amp; CGFS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v0.5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106424"/>
            <a:ext cx="1005840" cy="246888"/>
          </a:xfrm>
          <a:prstGeom prst="rect">
            <a:avLst/>
          </a:prstGeom>
          <a:solidFill>
            <a:srgbClr val="0E8A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Freigegeben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1517904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365760" y="1517904"/>
            <a:ext cx="64008" cy="493776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502920" y="1636776"/>
            <a:ext cx="54864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02920" y="163677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Sch. 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4300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CG-STD-5100 / CG-ORG-2100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1773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Governance &amp; Zertifizierung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v1.3 / v1.4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1636776"/>
            <a:ext cx="1005840" cy="246888"/>
          </a:xfrm>
          <a:prstGeom prst="rect">
            <a:avLst/>
          </a:prstGeom>
          <a:solidFill>
            <a:srgbClr val="0E8A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Freigegeben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048256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365760" y="2048256"/>
            <a:ext cx="64008" cy="4937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502920" y="2167128"/>
            <a:ext cx="54864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502920" y="21671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Sch. 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4300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CG-STD-4100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3000" y="2304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Storage &amp; 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v0.7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2167128"/>
            <a:ext cx="1005840" cy="246888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DRAFT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578608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Shape 30"/>
          <p:cNvSpPr/>
          <p:nvPr/>
        </p:nvSpPr>
        <p:spPr>
          <a:xfrm>
            <a:off x="365760" y="2578608"/>
            <a:ext cx="64008" cy="493776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Shape 31"/>
          <p:cNvSpPr/>
          <p:nvPr/>
        </p:nvSpPr>
        <p:spPr>
          <a:xfrm>
            <a:off x="502920" y="2697480"/>
            <a:ext cx="54864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502920" y="269748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Sch. 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143000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CG-STD-3100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43000" y="2834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Engine-Spezifikation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49040" y="26151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v1.5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697480"/>
            <a:ext cx="1005840" cy="246888"/>
          </a:xfrm>
          <a:prstGeom prst="rect">
            <a:avLst/>
          </a:prstGeom>
          <a:solidFill>
            <a:srgbClr val="0E8A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Freigegeben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108960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Shape 38"/>
          <p:cNvSpPr/>
          <p:nvPr/>
        </p:nvSpPr>
        <p:spPr>
          <a:xfrm>
            <a:off x="365760" y="3108960"/>
            <a:ext cx="64008" cy="493776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1" name="Shape 39"/>
          <p:cNvSpPr/>
          <p:nvPr/>
        </p:nvSpPr>
        <p:spPr>
          <a:xfrm>
            <a:off x="502920" y="3227832"/>
            <a:ext cx="54864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2" name="Text 40"/>
          <p:cNvSpPr/>
          <p:nvPr/>
        </p:nvSpPr>
        <p:spPr>
          <a:xfrm>
            <a:off x="502920" y="322783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Sch. 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43000" y="31455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CG-STD-2100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43000" y="3364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CTDDL Spezifikation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74904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v1.4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3227832"/>
            <a:ext cx="1005840" cy="246888"/>
          </a:xfrm>
          <a:prstGeom prst="rect">
            <a:avLst/>
          </a:prstGeom>
          <a:solidFill>
            <a:srgbClr val="0E8A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Freigegeben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639312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8" name="Shape 46"/>
          <p:cNvSpPr/>
          <p:nvPr/>
        </p:nvSpPr>
        <p:spPr>
          <a:xfrm>
            <a:off x="365760" y="3639312"/>
            <a:ext cx="64008" cy="493776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9" name="Shape 47"/>
          <p:cNvSpPr/>
          <p:nvPr/>
        </p:nvSpPr>
        <p:spPr>
          <a:xfrm>
            <a:off x="502920" y="3758184"/>
            <a:ext cx="54864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0" name="Text 48"/>
          <p:cNvSpPr/>
          <p:nvPr/>
        </p:nvSpPr>
        <p:spPr>
          <a:xfrm>
            <a:off x="502920" y="375818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Sch. 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4300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CG-STD-1100 / CG-STD-1000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43000" y="3895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Masterdok. + Terminologie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4904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v2.5 / v1.2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09160" y="3758184"/>
            <a:ext cx="1005840" cy="246888"/>
          </a:xfrm>
          <a:prstGeom prst="rect">
            <a:avLst/>
          </a:prstGeom>
          <a:solidFill>
            <a:srgbClr val="0E8A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Freigegeben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4169664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6" name="Shape 54"/>
          <p:cNvSpPr/>
          <p:nvPr/>
        </p:nvSpPr>
        <p:spPr>
          <a:xfrm>
            <a:off x="365760" y="4169664"/>
            <a:ext cx="64008" cy="4937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7" name="Shape 55"/>
          <p:cNvSpPr/>
          <p:nvPr/>
        </p:nvSpPr>
        <p:spPr>
          <a:xfrm>
            <a:off x="502920" y="4288536"/>
            <a:ext cx="548640" cy="246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8" name="Text 56"/>
          <p:cNvSpPr/>
          <p:nvPr/>
        </p:nvSpPr>
        <p:spPr>
          <a:xfrm>
            <a:off x="502920" y="428853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Sch. 0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14300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CG-STD-0000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143000" y="44256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Mathematische Grundlagen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749040" y="4206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v0.5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09160" y="4288536"/>
            <a:ext cx="1005840" cy="246888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DRAFT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98932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CG-APP – Anwendungsdokumente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989320" y="1307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CG-APP-0100  Anwendungsanalyse (26 Domänen)   v1.8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989320" y="1636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CG-APP-0200  ChronoGrid for Engineers           DRAFT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98932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CG-APP-0300  CTDDL vs. OWL-Time vs. Schema.org  v1.2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989320" y="2295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CG-APP-0400  Dateimanifest-Leitfaden            DRAFT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989320" y="2624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CG-APP-0500  Reference Registry                 DRAFT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989320" y="2953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CG-APP-0600  Implementation Cookbook (UC 1–5)   DRAFT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989320" y="32826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CG-APP-0700  Ref. Implementation Architecture   v0.3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989320" y="3730752"/>
            <a:ext cx="306324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2" name="Text 70"/>
          <p:cNvSpPr/>
          <p:nvPr/>
        </p:nvSpPr>
        <p:spPr>
          <a:xfrm>
            <a:off x="6126480" y="37673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A589"/>
                </a:solidFill>
              </a:rPr>
              <a:t>9</a:t>
            </a:r>
            <a:r>
              <a:rPr lang="en-US" sz="1000" dirty="0">
                <a:solidFill>
                  <a:srgbClr val="FFFFFF"/>
                </a:solidFill>
              </a:rPr>
              <a:t>  normative Spezifikationen
</a:t>
            </a:r>
            <a:r>
              <a:rPr lang="en-US" sz="1800" b="1" dirty="0">
                <a:solidFill>
                  <a:srgbClr val="17A589"/>
                </a:solidFill>
              </a:rPr>
              <a:t>7</a:t>
            </a:r>
            <a:r>
              <a:rPr lang="en-US" sz="1000" dirty="0">
                <a:solidFill>
                  <a:srgbClr val="FFFFFF"/>
                </a:solidFill>
              </a:rPr>
              <a:t>  Anwendungsdokumente
</a:t>
            </a:r>
            <a:r>
              <a:rPr lang="en-US" sz="1800" b="1" dirty="0">
                <a:solidFill>
                  <a:srgbClr val="17A589"/>
                </a:solidFill>
              </a:rPr>
              <a:t>9</a:t>
            </a:r>
            <a:r>
              <a:rPr lang="en-US" sz="1000" dirty="0">
                <a:solidFill>
                  <a:srgbClr val="FFFFFF"/>
                </a:solidFill>
              </a:rPr>
              <a:t>  Invarianten  ·  </a:t>
            </a:r>
            <a:r>
              <a:rPr lang="en-US" sz="1800" b="1" dirty="0">
                <a:solidFill>
                  <a:srgbClr val="17A589"/>
                </a:solidFill>
              </a:rPr>
              <a:t>11</a:t>
            </a:r>
            <a:r>
              <a:rPr lang="en-US" sz="1000" dirty="0">
                <a:solidFill>
                  <a:srgbClr val="FFFFFF"/>
                </a:solidFill>
              </a:rPr>
              <a:t>  Fehlerklassen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ANWENDUNGSBEREICHE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wird ChronoGrid gebraucht?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2724912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🛰  Raumfahrt &amp; Quantenphysik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4416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Relativistische Zeitdilatation, GPS, TAI, MissionTime. NEU: Satellitengestützte QKD-Zeitstempel — I-QKD-1-normiert (CG-STD-6100 §7.4).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9544" y="100584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3209544" y="1005840"/>
            <a:ext cx="2724912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3300984" y="100584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🏛  Langzeitarchive &amp; Recht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00984" y="134416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Dokumente von 1200 bis 3050 im selben System. OAIS-kompatibel. Notarieller Akt mit Versionschain (UC2).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00584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6053328" y="1005840"/>
            <a:ext cx="2724912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144768" y="100584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📈  Finanzmärkte &amp; Audit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44768" y="134416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Nanosekunden-genaue, unveränderliche Audit-Zeitstempel. Kein 2038-Problem. Regulatorisch belastbar.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2724912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57200" y="256032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Energie &amp; IEC 61850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9864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Sub-Sekunden-Energiemesswerte (UC3, Shelly Pro 3EM). Level-1-Implementierung: ~200 Zeilen, embedded-fähig.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9544" y="256032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3209544" y="2560320"/>
            <a:ext cx="2724912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3300984" y="256032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🔬  Wissenschaft &amp; Astro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00984" y="289864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Reproduzierbarkeit über Jahrzehnte. Kosmologische Skalen (PSR B1919+21, UC4) bis zum Alter des Universums.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53328" y="2560320"/>
            <a:ext cx="27249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8" name="Shape 26"/>
          <p:cNvSpPr/>
          <p:nvPr/>
        </p:nvSpPr>
        <p:spPr>
          <a:xfrm>
            <a:off x="6053328" y="2560320"/>
            <a:ext cx="2724912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6144768" y="256032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🏭  Industrie &amp; IoT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289864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Level-1-konform mit int64-Arithmetik. Klare Fehlercodes CG-E-001 bis CG-E-011 für robusten Betrieb.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FORMALE GRUNDLAGEN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Invarianten · 11 Fehlerklassen · 3 Konformitätsstufen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I-R1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70432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Jeder Zeitpunkt hat exakt einen absoluten Wert  (Th. 5.1)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385316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65760" y="138531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I-R2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70432" y="14036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Totale Ordnung auf ℤ∞  (Th. 1.1)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I-R3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70432" y="1801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Determinismus: gleiche Eingabe → gleiche Ausgabe  (Th. 5.2)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80844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365760" y="218084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I-D1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70432" y="21991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Domain-Unveränderlichkeit: publizierte Versionen immutabel  (Th. 2.1)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365760" y="25786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I-S1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70432" y="2596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Zeitpunkt-Immutabilität: kein UPDATE/DELETE  (Th. 5.3)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76372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365760" y="297637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I-SEG-1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70432" y="29946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Segment-Isolation (Th. 5.5)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365760" y="33741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I-M1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70432" y="3392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Mapping-Eindeutigkeit, Klasse A ist Funktion  (Th. 3.1)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71900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365760" y="37719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I-M3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70432" y="37901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Referenzpunkt-Konsistenz M(s) = r exakt  (Th. 3.3)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749808" cy="347472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365760" y="416966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I-E1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70432" y="4187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DF0"/>
                </a:solidFill>
              </a:rPr>
              <a:t>Keine universelle Epoch — vollständig bewiesen  (Th. 5.4)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9601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4754880" y="9601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79008" y="9692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SyntaxError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79008" y="11338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CTDDL ABNF-Verletzung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13030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4754880" y="13030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79008" y="13121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SemanticError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79008" y="14767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CTDDL inkonsistent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16459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4754880" y="16459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CG-E-003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79008" y="16550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ExtentError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79008" y="18196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BigInt-Overflow (FATAL)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19888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/>
          <p:nvPr/>
        </p:nvSpPr>
        <p:spPr>
          <a:xfrm>
            <a:off x="4754880" y="19888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79008" y="19979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HierarchyError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779008" y="21625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Hierarchie-Definition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23317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8" name="Text 46"/>
          <p:cNvSpPr/>
          <p:nvPr/>
        </p:nvSpPr>
        <p:spPr>
          <a:xfrm>
            <a:off x="4754880" y="23317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CG-E-005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79008" y="2340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MappingError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79008" y="25054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Chain-Limit &gt; 8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26746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2" name="Text 50"/>
          <p:cNvSpPr/>
          <p:nvPr/>
        </p:nvSpPr>
        <p:spPr>
          <a:xfrm>
            <a:off x="4754880" y="26746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CG-E-006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779008" y="26837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InvariantError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79008" y="28483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Normative Invariante verletzt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30175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6" name="Text 54"/>
          <p:cNvSpPr/>
          <p:nvPr/>
        </p:nvSpPr>
        <p:spPr>
          <a:xfrm>
            <a:off x="4754880" y="30175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779008" y="30266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VersionError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779008" y="31912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Inkompatible Version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54880" y="33604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0" name="Text 58"/>
          <p:cNvSpPr/>
          <p:nvPr/>
        </p:nvSpPr>
        <p:spPr>
          <a:xfrm>
            <a:off x="4754880" y="33604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CG-E-008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779008" y="33695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ConstraintError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779008" y="35341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Typ-Exklusivität / scientific_dep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54880" y="37033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4" name="Text 62"/>
          <p:cNvSpPr/>
          <p:nvPr/>
        </p:nvSpPr>
        <p:spPr>
          <a:xfrm>
            <a:off x="4754880" y="3703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CG-E-009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779008" y="3712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ImmutabilityError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779008" y="38770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I-D1 / I-S1 verletzt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54880" y="40462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8" name="Text 66"/>
          <p:cNvSpPr/>
          <p:nvPr/>
        </p:nvSpPr>
        <p:spPr>
          <a:xfrm>
            <a:off x="4754880" y="40462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CG-E-010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779008" y="40553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CGUASError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779008" y="42199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Adressraum (8 Sub-Codes)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54880" y="4389120"/>
            <a:ext cx="960120" cy="310896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2" name="Text 70"/>
          <p:cNvSpPr/>
          <p:nvPr/>
        </p:nvSpPr>
        <p:spPr>
          <a:xfrm>
            <a:off x="4754880" y="43891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CG-E-011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779008" y="43982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CGFSError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779008" y="456285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Filesystem (12 Sub-Codes)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6" name="Text 74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REFERENZIMPLEMENTIERUNG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 · Node.js · PostgreSQL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E8A72"/>
                </a:solidFill>
              </a:rPr>
              <a:t>CG-APP-0700 — Monorepo mit 7 Packages · Level-1 in ~200 Zeilen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54864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02920" y="12252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cg-types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721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Gemeinsame Typdefinitionen &amp; Interfaces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117043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4736592" y="1170432"/>
            <a:ext cx="54864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873752" y="12252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cg-ctddl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4721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CTDDL-Parser, -Validator (ABNF → AST)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365760" y="1901952"/>
            <a:ext cx="54864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02920" y="19568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20370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Klasse-A/B-Mappings, 114 normative Tests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190195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4736592" y="1901952"/>
            <a:ext cx="54864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873752" y="19568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cg-cguas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220370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Adressraum-Auflösung (CGUAS-1/2/3)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365760" y="2633472"/>
            <a:ext cx="54864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502920" y="26883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cg-cgfs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29352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CGFS-Filesystem, CGFI-Fingerprint, QKD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9" name="Shape 27"/>
          <p:cNvSpPr/>
          <p:nvPr/>
        </p:nvSpPr>
        <p:spPr>
          <a:xfrm>
            <a:off x="4736592" y="2633472"/>
            <a:ext cx="54864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4873752" y="26883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cg-storage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29352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PostgreSQL WORM-Store, REST/GraphQL, JWT/RBAC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91740" y="336499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3" name="Shape 31"/>
          <p:cNvSpPr/>
          <p:nvPr/>
        </p:nvSpPr>
        <p:spPr>
          <a:xfrm>
            <a:off x="2491740" y="3364992"/>
            <a:ext cx="54864" cy="5943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2628900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cg-testkit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28900" y="366674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L1/L2/L3 Testsuite, 304+ Tests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142232"/>
            <a:ext cx="841248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548640" y="4169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</a:rPr>
              <a:t>Level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CDDF0"/>
                </a:solidFill>
              </a:rPr>
              <a:t>Lineare Domains · encode/decode · CGTA · 55 Tests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83280" y="4169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</a:rPr>
              <a:t>Level 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8328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CDDF0"/>
                </a:solidFill>
              </a:rPr>
              <a:t>Gregorianisch · Allen-Relationen · REST · 155 Tests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17920" y="4169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</a:rPr>
              <a:t>Level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CDDF0"/>
                </a:solidFill>
              </a:rPr>
              <a:t>Relativistisch · Kosmologisch · WORM/OAIS · 304+ Tests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ROADMAP &amp; STATUS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Status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029968" cy="329184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029968" cy="457200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38912" y="98755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216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CDDF0"/>
                </a:solidFill>
              </a:rPr>
              <a:t>Spezifikation &amp; Formalismus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A589"/>
                </a:solidFill>
              </a:rPr>
              <a:t>✓ 16 Dokumente (9 normativ)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A589"/>
                </a:solidFill>
              </a:rPr>
              <a:t>✓ CG-STD-1000 v1.2 Freigegeben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A589"/>
                </a:solidFill>
              </a:rPr>
              <a:t>✓ 9 Invarianten formal bewiesen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A020"/>
                </a:solidFill>
              </a:rPr>
              <a:t>→ CG-STD-0000: 4 DRAFT-Theoreme extern verifizieren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A020"/>
                </a:solidFill>
              </a:rPr>
              <a:t>→ FFG-Basisprogramm-Antrag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A020"/>
                </a:solidFill>
              </a:rPr>
              <a:t>→ Letter of Intent TU Wien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87168" y="987552"/>
            <a:ext cx="2029968" cy="329184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2487168" y="987552"/>
            <a:ext cx="2029968" cy="457200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2560320" y="98755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2027–28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1216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CDDF0"/>
                </a:solidFill>
              </a:rPr>
              <a:t>Referenzimplementierung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78608" y="15087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TypeScript / Node.js / PostgreSQL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78608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7 Packages · cg-engine · cg-cgfs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22219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304+ normative Tests bestehen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257860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OpenAPI 3.1 + REST/GraphQL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78608" y="293522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OCG-Jahrestagung Paper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78608" y="32918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ASI/ON Erstkontakt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987552"/>
            <a:ext cx="2029968" cy="329184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4608576" y="987552"/>
            <a:ext cx="2029968" cy="457200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4681728" y="98755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2029–31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81728" y="1216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CDDF0"/>
                </a:solidFill>
              </a:rPr>
              <a:t>ISO-Normierung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0016" y="15087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ASI/ON Normungsantrag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0016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CEN/CENELEC Vorlage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0016" y="22219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ISO TC 154 Einreichung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0016" y="257860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W3C OWL-Time Integration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0016" y="293522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IANA cgua://-URI-Schema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0016" y="32918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ESA / NASA Pilotprojekte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29984" y="987552"/>
            <a:ext cx="2029968" cy="329184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Shape 33"/>
          <p:cNvSpPr/>
          <p:nvPr/>
        </p:nvSpPr>
        <p:spPr>
          <a:xfrm>
            <a:off x="6729984" y="987552"/>
            <a:ext cx="2029968" cy="457200"/>
          </a:xfrm>
          <a:prstGeom prst="rect">
            <a:avLst/>
          </a:prstGeom>
          <a:solidFill>
            <a:srgbClr val="0E8A72"/>
          </a:solidFill>
          <a:ln w="12700">
            <a:solidFill>
              <a:srgbClr val="0E8A7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6803136" y="98755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2032+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03136" y="1216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CDDF0"/>
                </a:solidFill>
              </a:rPr>
              <a:t>Globaler Standard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21424" y="15087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ISO TC 154 verabschiedet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21424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IETF RFC für CTDDL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21424" y="22219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100+ Zertifizierungen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21424" y="257860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Embedded / IoT Adoption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21424" y="293522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</a:rPr>
              <a:t>Quantenkryptographie-Integration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352544"/>
            <a:ext cx="841248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/>
          <p:nvPr/>
        </p:nvSpPr>
        <p:spPr>
          <a:xfrm>
            <a:off x="457200" y="4352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⚠  2038-Problem: noch ~12 Jahre  —  Referenzimplementierung ist der kritische Pfad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6" name="Text 44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17A589"/>
                </a:solidFill>
              </a:rPr>
              <a:t>STRATEGIE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</a:rPr>
              <a:t>ChronoGrid Systems  ·  Kurt, Founder &amp; Lead Architect  ·  April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EE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Standardisierung &amp; Kooperationsangebot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4864" cy="3749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3A6B"/>
                </a:solidFill>
              </a:rPr>
              <a:t>STANDARDISIERUNGSPFAD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Austrian Standards International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490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ÖNORM-Vorprojekt   1–3 J.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95681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640080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ISO TC 154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CTDDL als ISO-Norm   5–10 J.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615184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640080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W3C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807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OWL-Time / CGTA Integration   3–5 J.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273552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640080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IETF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655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RFC für CTDDL-Format   3–5 J.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931920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ESA / NASA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23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MissionTime / QKD Pilot   3–7 J.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3A6B"/>
                </a:solidFill>
              </a:rPr>
              <a:t>KOOPERATIONSANGEBOT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54864" cy="7772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4773168" y="13533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🎓  Masterarbeit / Dissertation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160934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Referenz-Engine in TypeScript/Node.js. TU Wien, Institut für Distributed Systems. LoI in Vorbereitung.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21408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4663440" y="2121408"/>
            <a:ext cx="54864" cy="7772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4773168" y="2194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💰  FFG-Basisprogramm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24505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Gemeinsamer Antrag mit institutionellem Partner. Hauptargument: CTDDL als einziges maschinenlesbares Domänenbeschreibungssystem.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962656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4" name="Shape 32"/>
          <p:cNvSpPr/>
          <p:nvPr/>
        </p:nvSpPr>
        <p:spPr>
          <a:xfrm>
            <a:off x="4663440" y="2962656"/>
            <a:ext cx="54864" cy="7772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4773168" y="30358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📋  Technisches Review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3168" y="3291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Peer-Review der 9 Spezifikationsdokumente. Offen: externe Verifikation von 4 DRAFT-Theoremen (CG-STD-0000).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803904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8" name="Shape 36"/>
          <p:cNvSpPr/>
          <p:nvPr/>
        </p:nvSpPr>
        <p:spPr>
          <a:xfrm>
            <a:off x="4663440" y="3803904"/>
            <a:ext cx="54864" cy="7772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/>
          <p:nvPr/>
        </p:nvSpPr>
        <p:spPr>
          <a:xfrm>
            <a:off x="4773168" y="38770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🔬  OCG-Jahrestagung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73168" y="41330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LNI-Style Paper (Deutsch). Related Work: Allen, Snodgrass, Lamport, TimeML. ℤ vs. ℝ formal begründen.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ChronoGrid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3200400" y="187452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 hat jetzt eine Adresse.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2651760"/>
            <a:ext cx="1554480" cy="9601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39496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9496" y="3172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Dokumente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67128" y="2651760"/>
            <a:ext cx="1554480" cy="9601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2167128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67128" y="3172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Invarianten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94760" y="2651760"/>
            <a:ext cx="1554480" cy="9601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379476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94760" y="3172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Fehlerklassen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22392" y="2651760"/>
            <a:ext cx="1554480" cy="9601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5422392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22392" y="3172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normative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Tests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50024" y="2651760"/>
            <a:ext cx="1554480" cy="960120"/>
          </a:xfrm>
          <a:prstGeom prst="rect">
            <a:avLst/>
          </a:prstGeom>
          <a:solidFill>
            <a:srgbClr val="0D2247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7050024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A5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50024" y="3172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Konformitäts-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CEE"/>
                </a:solidFill>
              </a:rPr>
              <a:t>stufen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77AA"/>
                </a:solidFill>
              </a:rPr>
              <a:t>Kurt  ·  Founder &amp; Lead Architect  ·  ChronoGrid Systems  ·  Neunkirchen, NÖ, Österreich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580"/>
                </a:solidFill>
              </a:rPr>
              <a:t>CG-DOK-0000 v2.6  ·  April 2026  ·  CG-STD-1000 v1.2 (freigegeben)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1365</Words>
  <Application>Microsoft Office PowerPoint</Application>
  <PresentationFormat>Bildschirmpräsentation (16:9)</PresentationFormat>
  <Paragraphs>289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Consolas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ChronoGrid Pitch – April 2026</dc:title>
  <dc:subject>PptxGenJS Presentation</dc:subject>
  <dc:creator>Kurt, ChronoGrid Systems</dc:creator>
  <cp:lastModifiedBy>Kurt Bauer</cp:lastModifiedBy>
  <cp:revision>1</cp:revision>
  <dcterms:created xsi:type="dcterms:W3CDTF">2026-04-24T18:08:26Z</dcterms:created>
  <dcterms:modified xsi:type="dcterms:W3CDTF">2026-04-24T18:31:53Z</dcterms:modified>
</cp:coreProperties>
</file>